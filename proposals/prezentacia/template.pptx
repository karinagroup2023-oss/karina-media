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4CF4DD-2377-4E8B-873B-775ABF9F2E0D}">
  <a:tblStyle styleId="{2C4CF4DD-2377-4E8B-873B-775ABF9F2E0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intablo.ru/business/kto-takoy-finansovyy-direktor#:~:text=%D0%9A%D1%82%D0%BE%20%D1%82%D0%B0%D0%BA%D0%BE%D0%B9%20%D1%84%D0%B8%D0%BD%D0%B0%D0%BD%D1%81%D0%BE%D0%B2%D1%8B%D0%B9%20%D0%B4%D0%B8%D1%80%D0%B5%D0%BA%D1%82%D0%BE%D1%80" TargetMode="External"/><Relationship Id="rId4" Type="http://schemas.openxmlformats.org/officeDocument/2006/relationships/hyperlink" Target="https://fintablo.ru/business/kto-takoy-finansovyy-direktor#:~:text=%D0%A7%D0%B5%D0%BC%20%D0%B4%D0%BE%D0%BB%D0%B6%D0%B5%D0%BD%20%D0%B7%D0%B0%D0%BD%D0%B8%D0%BC%D0%B0%D1%82%D1%8C%D1%81%D1%8F%20%D1%84%D0%B8%D0%BD%D0%B0%D0%BD%D1%81%D0%BE%D0%B2%D1%8B%D0%B9%20%D0%B4%D0%B8%D1%80%D0%B5%D0%BA%D1%82%D0%BE%D1%8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intablo.ru/business/kto-takoy-finansovyy-direktor#:~:text=%D0%9E%D1%82%D0%BB%D0%B8%D1%87%D0%B8%D1%8F%20%D1%84%D0%B8%D0%BD%D0%B0%D0%BD%D1%81%D0%BE%D0%B2%D0%BE%D0%B3%D0%BE%20%D0%B4%D0%B8%D1%80%D0%B5%D0%BA%D1%82%D0%BE%D1%80%D0%B0%20%D0%BE%D1%82%C2%A0%D0%B3%D0%BB%D0%B0%D0%B2%D0%BD%D0%BE%D0%B3%D0%BE%20%D0%B1%D1%83%D1%85%D0%B3%D0%B0%D0%BB%D1%82%D0%B5%D1%80%D0%B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intablo.ru/business/kto-takoy-finansovyy-direktor#:~:text=%D0%A7%D0%B5%D0%BC%20%D0%B4%D0%BE%D0%BB%D0%B6%D0%B5%D0%BD%20%D0%B7%D0%B0%D0%BD%D0%B8%D0%BC%D0%B0%D1%82%D1%8C%D1%81%D1%8F%20%D1%84%D0%B8%D0%BD%D0%B0%D0%BD%D1%81%D0%BE%D0%B2%D1%8B%D0%B9%20%D0%B4%D0%B8%D1%80%D0%B5%D0%BA%D1%82%D0%BE%D1%80" TargetMode="External"/><Relationship Id="rId4" Type="http://schemas.openxmlformats.org/officeDocument/2006/relationships/hyperlink" Target="https://mba-kazakhstan.kz/blog/osnovnye-objazannosti-i-zadachi-finansovogo-direktora#:~:text=%D0%9E%D1%81%D0%BD%D0%BE%D0%B2%D0%BD%D1%8B%D0%B5%20%D0%BE%D0%B1%D1%8F%D0%B7%D0%B0%D0%BD%D0%BD%D0%BE%D1%81%D1%82%D0%B8%20%D0%B8%20%D0%B7%D0%B0%D0%B4%D0%B0%D1%87%D0%B8%20%D1%84%D0%B8%D0%BD%D0%B0%D0%BD%D1%81%D0%BE%D0%B2%D0%BE%D0%B3%D0%BE,%D0%B4%D0%B8%D1%80%D0%B5%D0%BA%D1%82%D0%BE%D1%80%D0%B0%20%D0%BA%D0%BE%D0%BC%D0%BF%D0%B0%D0%BD%D0%B8%D0%B8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intablo.ru/business/kto-takoy-finansovyy-direktor#:~:text=%D0%92%D1%8B%D1%81%D1%82%D1%80%D0%B0%D0%B8%D0%B2%D0%B0%D1%82%D1%8C%20%D0%B0%D1%80%D1%85%D0%B8%D1%82%D0%B5%D0%BA%D1%82%D1%83%D1%80%D1%83%20%D1%83%D0%BF%D1%80%D0%B0%D0%B2%D0%BB%D0%B5%D0%BD%D1%87%D0%B5%D1%81%D0%BA%D0%BE%D0%B3%D0%BE%20%D1%83%D1%87%D1%91%D1%82%D0%B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fintablo.ru/business/kto-takoy-finansovyy-direktor#:~:text=%D0%90%D0%BD%D0%B0%D0%BB%D0%B8%D0%B7%D0%B8%D1%80%D0%BE%D0%B2%D0%B0%D1%82%D1%8C%20%D0%BE%D1%82%D1%87%D1%91%D1%82%D0%BD%D0%BE%D1%81%D1%82%D1%8C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intablo.ru/business/kto-takoy-finansovyy-direktor#:~:text=%D0%9F%D1%80%D0%B5%D0%B7%D0%B5%D0%BD%D1%82%D0%BE%D0%B2%D0%B0%D1%82%D1%8C%20%D1%83%D0%BF%D1%80%D0%B0%D0%B2%D0%BB%D0%B5%D0%BD%D1%87%D0%B5%D1%81%D0%BA%D1%83%D1%8E%20%D0%BE%D1%82%D1%87%D1%91%D1%82%D0%BD%D0%BE%D1%81%D1%82%D1%8C%20%D1%81%D0%BE%D0%B1%D1%81%D1%82%D0%B2%D0%B5%D0%BD%D0%BD%D0%B8%D0%BA%D1%83%20%D0%B8%C2%A0%D0%BF%D0%B5%D1%80%D0%B2%D1%8B%D0%BC,%D0%BB%D0%B8%D1%86%D0%B0%D0%BC%20%D0%BA%D0%BE%D0%BC%D0%BF%D0%B0%D0%BD%D0%B8%D0%B8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fintablo.ru/business/kto-takoy-finansovyy-direktor#:~:text=%D0%92%D0%B5%D1%81%D1%82%D0%B8%20%D0%B1%D1%8E%D0%B4%D0%B6%D0%B5%D1%82%20%D0%BA%D0%BE%D0%BC%D0%BF%D0%B0%D0%BD%D0%B8%D0%B8%20%D0%B8%C2%A0%D0%BA%D0%BE%D0%BD%D1%82%D1%80%D0%BE%D0%BB%D0%B8%D1%80%D0%BE%D0%B2%D0%B0%D1%82%D1%8C%20%D0%B5%D0%B3%D0%BE,%D0%B2%D1%8B%D0%BF%D0%BE%D0%BB%D0%BD%D0%B5%D0%BD%D0%B8%D0%B5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ba-kazakhstan.kz/blog/osnovnye-objazannosti-i-zadachi-finansovogo-direktora#:~:text=%D0%A1%D1%82%D1%80%D0%B0%D1%82%D0%B5%D0%B3%D0%B8%D1%87%D0%B5%D1%81%D0%BA%D0%BE%D0%B5%20%D0%BF%D0%BB%D0%B0%D0%BD%D0%B8%D1%80%D0%BE%D0%B2%D0%B0%D0%BD%D0%B8%D0%B5%20%D1%84%D0%B8%D0%BD%D0%B0%D0%BD%D1%81%D0%BE%D0%B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ba-kazakhstan.kz/blog/osnovnye-objazannosti-i-zadachi-finansovogo-direktora#:~:text=%D0%9A%D0%B0%D0%B6%D0%B4%D1%8B%D0%B9%20%D1%84%D0%B8%D0%BD%D0%B0%D0%BD%D1%81%D0%BE%D0%B2%D1%8B%D0%B9%20%D0%B4%D0%B8%D1%80%D0%B5%D0%BA%D1%82%D0%BE%D1%80%20%D0%B7%D0%BD%D0%B0%D0%B5%D1%82%2C%20%D1%87%D1%82%D0%BE,%D0%B8%20%D0%BF%D0%BE%D1%81%D1%82%D0%BE%D1%8F%D0%BD%D0%BD%D1%8B%D0%B9%20%D0%BC%D0%BE%D0%BD%D0%B8%D1%82%D0%BE%D1%80%D0%B8%D0%BD%D0%B3%20%D1%84%D0%B8%D0%BD%D0%B0%D0%BD%D1%81%D0%BE%D0%B2%D1%8B%D1%85%20%D0%BF%D0%BE%D0%BA%D0%B0%D0%B7%D0%B0%D1%82%D0%B5%D0%BB%D0%B5%D0%B9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ba-kazakhstan.kz/blog/osnovnye-objazannosti-i-zadachi-finansovogo-direktora#:~:text=%D0%A4%D0%B8%D0%BD%D0%B0%D0%BD%D1%81%D0%BE%D0%B2%D1%8B%D0%B9%20%D0%B0%D0%BD%D0%B0%D0%BB%D0%B8%D0%B7%20%D0%B8%20%D0%BE%D1%82%D1%87%D0%B5%D1%82%D0%BD%D0%BE%D1%81%D1%82%D1%8C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ba-kazakhstan.kz/blog/osnovnye-objazannosti-i-zadachi-finansovogo-direktora#:~:text=%D0%91%D1%8E%D0%B4%D0%B6%D0%B5%D1%82%D0%B8%D1%80%D0%BE%D0%B2%D0%B0%D0%BD%D0%B8%D0%B5%20%D0%B8%20%D0%BA%D0%BE%D0%BD%D1%82%D1%80%D0%BE%D0%BB%D1%8C%20%D0%B7%D0%B0%D1%82%D1%80%D0%B0%D1%8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mba-kazakhstan.kz/blog/osnovnye-objazannosti-i-zadachi-finansovogo-direktora#:~:text=%D0%92%D0%B7%D0%B0%D0%B8%D0%BC%D0%BE%D0%B4%D0%B5%D0%B9%D1%81%D1%82%D0%B2%D0%B8%D0%B5%20%D1%81%20%D0%B8%D0%BD%D0%B2%D0%B5%D1%81%D1%82%D0%BE%D1%80%D0%B0%D0%BC%D0%B8%20%D0%B8%20%D0%BA%D1%80%D0%B5%D0%B4%D0%B8%D1%82%D0%BE%D1%80%D0%B0%D0%BC%D0%B8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ba-kazakhstan.kz/blog/osnovnye-objazannosti-i-zadachi-finansovogo-direktora#:~:text=%D0%9E%D1%81%D0%BD%D0%BE%D0%B2%D0%BD%D1%8B%D0%B5%20%D0%BE%D0%B1%D1%8F%D0%B7%D0%B0%D0%BD%D0%BD%D0%BE%D1%81%D1%82%D0%B8%20%D0%B8%20%D0%B7%D0%B0%D0%B4%D0%B0%D1%87%D0%B8%20%D1%84%D0%B8%D0%BD%D0%B0%D0%BD%D1%81%D0%BE%D0%B2%D0%BE%D0%B3%D0%BE,%D0%B4%D0%B8%D1%80%D0%B5%D0%BA%D1%82%D0%BE%D1%80%D0%B0%20%D0%BA%D0%BE%D0%BC%D0%BF%D0%B0%D0%BD%D0%B8%D0%B8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www.salaryexpert.com/salary/job/finance-director/kazakhstan#:~:text=20%C2%A0083%C2%A0330%20%E2%82%B8%2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salaryexpert.com/salary/job/finance-director/kazakhstan#:~:text=20%C2%A0083%C2%A0330%20%E2%82%B8%20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463040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FinDirector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B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A8CB3"/>
                </a:solidFill>
                <a:latin typeface="Calibri"/>
                <a:ea typeface="Calibri"/>
                <a:cs typeface="Calibri"/>
                <a:sym typeface="Calibri"/>
              </a:rPr>
              <a:t>Приложение финансового директора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34747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CB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8CB3"/>
                </a:solidFill>
                <a:latin typeface="Calibri"/>
                <a:ea typeface="Calibri"/>
                <a:cs typeface="Calibri"/>
                <a:sym typeface="Calibri"/>
              </a:rPr>
              <a:t>Astana • 21 февраля 2026 г.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0" y="914400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О создателе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1097280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F5F6F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Еркин Каримов</a:t>
            </a:r>
            <a:br>
              <a:rPr b="1" i="0" lang="en-US" sz="20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С 2006 по 2012 гг. — инженер‑сметчик / QS в Agip KCO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2014‑2021 — ведущий инженер по оценке стоимости в LUKOIL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2021‑2023 — координатор по контролю проектов в TengizChevrOil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С 2023 — предприниматель: ремонт квартир, общепит, продюсирование Reels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2023: основал QazMediaAI, продвигающий экспертов через ИИ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2024: разработал прототип FinDirector — приложение для управления финансами предпринимателей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371600"/>
            <a:ext cx="320040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Консультанты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Гульнар Ганзароли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Опыт и достижения консультанта будут добавлены к моменту презентации. Финансовая и управленческая экспертиза поможет создать приложение, ориентированное на реальные потребности бизнеса.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Кто такой финансовый директор?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Отвечает за движение денежных средств и контроль финансовых потоков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Формирует бюджет, оценивает рентабельность и защищает экономическую безопасность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Руководит финансовой стратегией и готовит аналитику для собственников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[1]</a:t>
            </a:r>
            <a:r>
              <a:rPr b="0" i="0" lang="en-US" sz="600" u="none" cap="none" strike="noStrike">
                <a:solidFill>
                  <a:srgbClr val="7A8CB3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[3]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Финансовый директор vs главный бухгалтер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Финансовый директор — стратег: строит систему управленческого учёта и планирования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Главный бухгалтер — контролёр: следит за соответствием учёта законодательству и налогам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Финансовый директор принимает решения на основе данных, а бухгалтер — оформляет документы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[2]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Основные функции финансового директора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Анализирует финансы и контролирует исполнение бюджета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Планирует доходы, расходы и свободный денежный поток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Строит управленческий учёт, автоматизирует процессы и оптимизирует налоги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Прогнозирует финансовые риски и разрабатывает стратегию развития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[3]</a:t>
            </a:r>
            <a:r>
              <a:rPr b="0" i="0" lang="en-US" sz="600" u="none" cap="none" strike="noStrike">
                <a:solidFill>
                  <a:srgbClr val="7A8CB3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[8]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Архитектура управленческого учёта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Определяет перечень отчётных форм и порядок их заполнения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Назначает ответственных за сбор и качество данных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Выбирает платформу для автоматизации (1С, Excel, SaaS)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Настраивает отчёты по ДДС, P&amp;L и БДДС, консолидирует данные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[4]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Типы финансового анализа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План‑факт: сравнение факта с бюджетом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Горизонтальный: динамика показателей во времени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Вертикальный: структура доходов и расходов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Трендовый и прогнозный анализ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[5]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Ключевые финансовые отчёты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Отчёт о движении денежных средств (Cash Flow)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Отчёт о прибылях и убытках (Profit &amp; Loss)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Бухгалтерский баланс (Balance Sheet)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Сводные отчёты для собственников и инвесторов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[6]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Бюджетирование и резервирование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Формирование бюджета доходов, расходов и инвестиций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Контроль выполнения бюджетов и анализ отклонений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Создание фондов резервов для предотвращения кассовых разрывов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Определение потребности в финансировании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[7]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Стратегическое планирование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Анализ текущих финансовых показателей и рынка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Определение финансовых целей и KPI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Управление рисками и разработка сценариев развития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Сотрудничество с другими подразделениями для достижения целей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[9]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Управление финансовыми рисками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Типы рисков: кредитные, рыночные, ликвидности, операционные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Инструменты: хеджирование, кредитная политика, поддержание ликвидности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Контроль: стресс‑тестирование, лимиты и резервирование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Непрерывный мониторинг и корректировка стратегии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[10]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Финансовый анализ и отчётность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Подготовка P&amp;L, баланса, отчёта о движении денежных средств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Расчёт финансовых коэффициентов и маржинальности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Анализ рентабельности продуктов и проектов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Подготовка аналитики для собственников и инвесторов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[11]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Бюджетирование и контроль затрат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Разработка и утверждение бюджета компании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Контроль исполнения и анализ отклонений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Оптимизация расходов и поиск точек экономии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Внедрение системы бюджетного контроля в подразделениях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[12]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Отношения с инвесторами и финансирование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Привлечение капитала и переговоры с банками и инвесторами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Подготовка презентаций и финансовых моделей для инвесторов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Коммуникация финансовой отчётности для акционеров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Поддержание доверия через прозрачность и регулярный отчёт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[13]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Влияние финансового директора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Улучшает прозрачность и оперативность принятия решений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Оптимизирует финансовые потоки и повышает рентабельность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Создаёт культуру финансовой дисциплины в компании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Усиливает стратегическое управление и рост бизнеса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[8]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Рынок труда и уровень зарплат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5"/>
            <a:ext cx="4195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4941225" y="1256975"/>
            <a:ext cx="4059900" cy="24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Средняя годовая зарплата CFO: ~20,1 млн KZT</a:t>
            </a:r>
            <a:br>
              <a:rPr b="1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Входной уровень — 13,9 млн KZT; </a:t>
            </a:r>
            <a:endParaRPr b="0" i="0" sz="1200" u="none" cap="none" strike="noStrike">
              <a:solidFill>
                <a:srgbClr val="F5F6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1400"/>
              <a:buFont typeface="Calibri"/>
              <a:buNone/>
            </a:pPr>
            <a:r>
              <a:rPr lang="en-US" sz="1200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таршие специалисты — 25,5 млн KZT.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Средняя годовая премия составляет 2,8 млн KZT.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[14]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Потребность рынка и альтернатива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Высокие зарплаты финансовых директоров увеличивают порог входа для малого и среднего бизнеса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Дефицит квалифицированных CFO на рынке Казахстана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FinDirector закрывает разрыв: даёт доступ к инструментам CFO без найма дорогого специалиста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Модульная структура позволяет масштабировать функциональность под потребности бизнеса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600"/>
              <a:buFont typeface="Calibri"/>
              <a:buNone/>
            </a:pPr>
            <a:r>
              <a:rPr b="0" i="0" lang="en-US" sz="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[14]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Софт‑скиллы и лидерство CFO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Коммуникация и ведение переговоров с инвесторами и партнёрами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Управление командой и развитие финансовой культуры внутри компании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Стратегическое мышление и способность видеть риски и возможности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Эмоциональный интеллект и умение работать в условиях неопределённости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FinDirector: обзор продукта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Интуитивный интерфейс и адаптивный дизайн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Учёт доходов и расходов по ДДС, проекты/договоры, P&amp;L и календарь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Работа с несколькими валютами (KZT, RUB, USD)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Простая интеграция и автоматизация бизнес‑процессов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Модуль: ДДС (операции)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Учёт всех платежей в одном окне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Категории: выручка, расходы, налоги, конвертации и прочее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Поддержка нескольких валют и статусов оплаты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Фильтры и поиск по дате, статусу и контрагенту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Модуль: Проекты и договоры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Управление проектами и контрактами в единой панели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Отслеживание сумм договоров и статуса оплат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Гибкие сроки и прогресс выполнения по каждой сделке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Привязка платежей к конкретным договорам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Модуль: P&amp;L (прибыли и убытки)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Анализ доходов, переменных и фиксированных расходов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Графики динамики прибыли по периодам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Выявление точек роста и слабых мест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Сводные таблицы по категориям расходов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Модуль: Календарь платежей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Напоминания о сроках платежей и налогов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Сводная лента будущих и просроченных платежей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Интеграция с календарём и CRM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Сокращение рисков штрафов и пени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Модуль: Дашборд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Ключевые показатели: остатки на счетах, выручка, расходы и прибыль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Визуализация динамики выручки и расходных статей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Быстрый доступ к разделам и аналитике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Настройка показателей под бизнес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Команда и консультанты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Финансовые эксперты и практикующие CFO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Опытные бухгалтера для корректного учёта и налогообложения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IT‑разработчики для надёжной и масштабируемой платформы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Консультанты по управлению и автоматизации бизнес‑процессов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Участие в фокус‑группе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457200" y="118872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Только на этапе разработки:</a:t>
            </a:r>
            <a:br>
              <a:rPr b="1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Уникальная возможность сформировать функционал под ваш бизнес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Разовый взнос — 300 000 KZT; пожизненная подписка с бесплатными обновлениями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Закрытый чат и обратная связь с разработчиками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После коммерческого запуска подписка — 50–100 USD/мес.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Планы и цены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2" name="Google Shape;232;p30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{2C4CF4DD-2377-4E8B-873B-775ABF9F2E0D}</a:tableStyleId>
              </a:tblPr>
              <a:tblGrid>
                <a:gridCol w="2136025"/>
                <a:gridCol w="4272075"/>
                <a:gridCol w="14240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F6FA"/>
                          </a:solidFill>
                        </a:rPr>
                        <a:t>Тариф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F6FA"/>
                          </a:solidFill>
                        </a:rPr>
                        <a:t>Описание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5F6FA"/>
                          </a:solidFill>
                        </a:rPr>
                        <a:t>Цена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Фокус‑группа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Разовый платёж, пожизненная подписка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300 000 KZT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Стандарт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Доступ к основным модулям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50 USD/мес.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Премиум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Расширенные функции и интеграции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6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F6FA"/>
                          </a:solidFill>
                        </a:rPr>
                        <a:t>100 USD/мес.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0A18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30"/>
          <p:cNvSpPr/>
          <p:nvPr/>
        </p:nvSpPr>
        <p:spPr>
          <a:xfrm>
            <a:off x="457200" y="2720025"/>
            <a:ext cx="8229600" cy="18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Дорожная карта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Q1 2026: разработка MVP, </a:t>
            </a:r>
            <a:r>
              <a:rPr lang="en-US" sz="1200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запуск фокус‑группы</a:t>
            </a: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 и пилотные внедрения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Q2 2026: </a:t>
            </a:r>
            <a:r>
              <a:rPr lang="en-US" sz="1200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бор обратной связи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Q3 2026: коммерческий запуск и интеграция с внешними сервисами</a:t>
            </a:r>
            <a:b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Q4 2026: масштабирование и новые модули (CRM, HR, аналитика)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Миссия и видение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Помогаем предпринимателям контролировать и масштабировать бизнес благодаря доступным цифровым инструментам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Снимаем барьер входа: CFO‑функции без найма дорогостоящих специалистов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Создаём экосистему для роста: от учёта до аналитики и автоматизации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Строим сообщество, где знания и технологии делают успех доступным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A18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E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46EE5"/>
                </a:solidFill>
                <a:latin typeface="Calibri"/>
                <a:ea typeface="Calibri"/>
                <a:cs typeface="Calibri"/>
                <a:sym typeface="Calibri"/>
              </a:rPr>
              <a:t>Заключение и призыв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457200" y="1188725"/>
            <a:ext cx="4755000" cy="34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FinDirector — это ваш личный финансовый директор, доступный 24/7.</a:t>
            </a:r>
            <a:br>
              <a:rPr b="1" i="0" lang="en-US" sz="16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Преимущества:</a:t>
            </a:r>
            <a:br>
              <a:rPr b="1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контроль и прозрачность финансов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автоматизация и экономия времени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• данные для принятия стратегических решений</a:t>
            </a:r>
            <a:br>
              <a:rPr b="0" i="0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6F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5F6FA"/>
                </a:solidFill>
                <a:latin typeface="Calibri"/>
                <a:ea typeface="Calibri"/>
                <a:cs typeface="Calibri"/>
                <a:sym typeface="Calibri"/>
              </a:rPr>
              <a:t>Присоединяйтесь к фокус‑группе, чтобы получить пожизненный доступ и сформировать продукт вместе с нами.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3840480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