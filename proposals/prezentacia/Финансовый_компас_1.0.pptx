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4CF4DD-2377-4E8B-873B-775ABF9F2E0D}">
  <a:tblStyle styleId="{2C4CF4DD-2377-4E8B-873B-775ABF9F2E0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5F6FA"/>
                </a:solidFill>
                <a:latin typeface="Calibri"/>
              </a:rPr>
              <a:t>Финансовый компас 1.0</a:t>
            </a:r>
          </a:p>
          <a:p>
            <a:r>
              <a:rPr sz="1800">
                <a:solidFill>
                  <a:srgbClr val="7A8CB3"/>
                </a:solidFill>
                <a:latin typeface="Calibri"/>
              </a:rPr>
              <a:t>Пилотный практикум для предпринимателей
на упрощённом налогообложении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A8CB3"/>
                </a:solidFill>
                <a:latin typeface="Calibri"/>
              </a:rPr>
              <a:t>Онлайн · 10 встреч по 1-1,5 часа · 1-2 раза в неделю · Старт 6 апреля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4114800"/>
            <a:ext cx="1920240" cy="822960"/>
          </a:xfrm>
          <a:prstGeom prst="roundRect">
            <a:avLst/>
          </a:prstGeom>
          <a:solidFill>
            <a:srgbClr val="0D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46EE5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7A8CB3"/>
                </a:solidFill>
                <a:latin typeface="Calibri"/>
              </a:rPr>
              <a:t>онлайн-встреч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114800"/>
            <a:ext cx="1920240" cy="822960"/>
          </a:xfrm>
          <a:prstGeom prst="roundRect">
            <a:avLst/>
          </a:prstGeom>
          <a:solidFill>
            <a:srgbClr val="0D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4114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46EE5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4526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7A8CB3"/>
                </a:solidFill>
                <a:latin typeface="Calibri"/>
              </a:rPr>
              <a:t>эксперта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4114800"/>
            <a:ext cx="1920240" cy="822960"/>
          </a:xfrm>
          <a:prstGeom prst="roundRect">
            <a:avLst/>
          </a:prstGeom>
          <a:solidFill>
            <a:srgbClr val="0D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4114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46EE5"/>
                </a:solidFill>
                <a:latin typeface="Calibri"/>
              </a:rPr>
              <a:t>1-1,5 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4526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7A8CB3"/>
                </a:solidFill>
                <a:latin typeface="Calibri"/>
              </a:rPr>
              <a:t>длительность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79" y="4114800"/>
            <a:ext cx="1920240" cy="822960"/>
          </a:xfrm>
          <a:prstGeom prst="roundRect">
            <a:avLst/>
          </a:prstGeom>
          <a:solidFill>
            <a:srgbClr val="0D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79" y="4114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46EE5"/>
                </a:solidFill>
                <a:latin typeface="Calibri"/>
              </a:rPr>
              <a:t>49 000 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79" y="4526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7A8CB3"/>
                </a:solidFill>
                <a:latin typeface="Calibri"/>
              </a:rPr>
              <a:t>стоимость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546EE5"/>
                </a:solidFill>
                <a:latin typeface="Calibri"/>
              </a:rPr>
              <a:t>Малика Толессин, FCCA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F5F6FA"/>
                </a:solidFill>
                <a:latin typeface="Calibri"/>
              </a:rPr>
              <a:t>Финансовый аналитик · FCCA · 20+ лет опыта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MSc Financial Economics — City University of London (2010-2011)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FCCA — Fellow Chartered Certified Accountant (полное членство ACCA)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PricewaterhouseCoopers — старший консультант, аудит по МСФО (2006-2010, Алматы)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Baker Hughes — управленческий учёт (2005-2006, Атырау)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Tengizchevroil — старший финансовый аналитик, затем тимлид по финансовой отчётности (2012-2018)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Chevron — FSS Upstream Analyst &amp; Intercompany Team Lead (2018-2020)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Специализация: финансовая отчётность, управленческий учёт, коммерческий анализ, МСФО/IFRS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546EE5"/>
                </a:solidFill>
                <a:latin typeface="Calibri"/>
              </a:rPr>
              <a:t>Гульнар Каримова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F5F6FA"/>
                </a:solidFill>
                <a:latin typeface="Calibri"/>
              </a:rPr>
              <a:t>Главный бухгалтер · 30+ лет опыта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Магистр КИМЭП (1998)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Сертификат ACCA (2002)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Диплом профессионального бухгалтера (Италия, 2009)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USAID — финансовый координатор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Snamprogetti / ENI Group — бухгалтер, затем главный бухгалтер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KPO — старший бухгалтер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Agip / Baker Hughes — финансовые позиции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Финансовый координатор Каспийского региона (Казахстан, Кыргызстан, Узбекистан, Таджикистан)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Специализация: налогообложение ИП, упрощёнка 3%, форма 910, соцотчисления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546EE5"/>
                </a:solidFill>
                <a:latin typeface="Calibri"/>
              </a:rPr>
              <a:t>Еркин Каримов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F5F6FA"/>
                </a:solidFill>
                <a:latin typeface="Calibri"/>
              </a:rPr>
              <a:t>Экономист · Создатель FinDirector · 20+ лет опыта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2006-2012 — инженер-сметчик / QS в Agip KCO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2014-2021 — ведущий инженер по оценке стоимости в LUKOIL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2021-2023 — координатор по контролю проектов в TengizChevrOil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Контроль затрат на проектах стоимостью свыше US$2B (Chevron, LUKOIL, Agip/ENI, Kazakhmys)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С 2023 — предприниматель: ремонт квартир, общепит, продюсирование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Основатель креативной студии KARINA Media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2024: разработал FinDirector — приложение для управления финансами малого бизнеса</a:t>
            </a:r>
          </a:p>
        </p:txBody>
      </p:sp>
      <p:pic>
        <p:nvPicPr>
          <p:cNvPr id="4" name="Picture 3" descr="1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188720"/>
            <a:ext cx="3840480" cy="19862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546EE5"/>
                </a:solidFill>
                <a:latin typeface="Calibri"/>
              </a:rPr>
              <a:t>Почему предприниматели теряют деньги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80% малых бизнесов в Казахстане не ведут управленческий учёт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Кассовые разрывы — прибыль на бумаге есть, а платить зарплату и аренду нечем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Штрафы от налоговой — пропустили срок, ошибка в форме 910, штраф от 50 000 тг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Не знаете свою реальную прибыль — данные разбросаны по Excel, банку, приложению налоговой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Бизнес и личные деньги — одна куча. Себе зарплату не платите. Сколько зарабатывает бизнес — неизвестно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EF4444"/>
                </a:solidFill>
                <a:latin typeface="Calibri"/>
              </a:rPr>
              <a:t>Результат: решения наугад, потеря денег и нервов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546EE5"/>
                </a:solidFill>
                <a:latin typeface="Calibri"/>
              </a:rPr>
              <a:t>5 показателей для каждого владельца бизнеса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7A8CB3"/>
                </a:solidFill>
                <a:latin typeface="Calibri"/>
              </a:rPr>
              <a:t>Если эти 5 инструментов работают — кассовых разрывов почти не бывает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01. Остаток денег на счетах — сколько у вас есть прямо сейчас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02. Денежный поток (Cash Flow) — куда реально уходят деньги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03. Дебиторская задолженность — кто и сколько вам должен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04. Платёжный календарь — кому и когда вы должны платить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05. Прибыль (P&amp;L) — сколько зарабатываете, тратите и сколько остаётся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На практикуме вы научитесь отслеживать каждый из них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546EE5"/>
                </a:solidFill>
                <a:latin typeface="Calibri"/>
              </a:rPr>
              <a:t>Программа: встречи 01-03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2000" b="1">
                <a:solidFill>
                  <a:srgbClr val="F5F6FA"/>
                </a:solidFill>
                <a:latin typeface="Calibri"/>
              </a:rPr>
              <a:t>Финансовый фундамент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Разделение личных и бизнес-финансов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P&amp;L из 5 строк — простейший отчёт о прибылях и убытках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Себестоимость vs операционные расходы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Простая структура отчёта для ИП и самозанятых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7A8CB3"/>
                </a:solidFill>
                <a:latin typeface="Calibri"/>
              </a:rPr>
              <a:t>Формат: онлайн, 1-1,5 часа, 1-2 раза в неделю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546EE5"/>
                </a:solidFill>
                <a:latin typeface="Calibri"/>
              </a:rPr>
              <a:t>Программа: встречи 04-06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2000" b="1">
                <a:solidFill>
                  <a:srgbClr val="F5F6FA"/>
                </a:solidFill>
                <a:latin typeface="Calibri"/>
              </a:rPr>
              <a:t>Учёт и налоги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Упрощёнка 3% для ИП и ТОО — как всё устроено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Обязательные соцплатежи и пенсионные отчисления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Платёжный календарь — когда и что платить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Как не попасть на штрафы от налоговой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Правильное заполнение формы 910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546EE5"/>
                </a:solidFill>
                <a:latin typeface="Calibri"/>
              </a:rPr>
              <a:t>Программа: встречи 07-10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2000" b="1">
                <a:solidFill>
                  <a:srgbClr val="F5F6FA"/>
                </a:solidFill>
                <a:latin typeface="Calibri"/>
              </a:rPr>
              <a:t>Аналитика, рост и FinDirector на практике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Cash Flow и ДДС — полная картина движения денег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Юнит-экономика продукта — какие направления прибыльны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Снижение затрат — какие расходы инвестиции, а какие пустая трата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Работа с FinDirector: дашборд, договоры, ДДС, P&amp;L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Настройка программы под ваш бизнес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Ваша обратная связь формирует продукт — вы первые, кто его использует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546EE5"/>
                </a:solidFill>
                <a:latin typeface="Calibri"/>
              </a:rPr>
              <a:t>FinDirector: Главный дашборд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Остатки на счетах, выручка, расходы и прибыль — всё на одном экране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Визуализация динамики выручки и расходов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AI-советы по управлению деньгами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Быстрый доступ ко всем разделам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Участники практикума получат 6 месяцев бесплатного доступа</a:t>
            </a:r>
          </a:p>
        </p:txBody>
      </p:sp>
      <p:pic>
        <p:nvPicPr>
          <p:cNvPr id="4" name="Picture 3" descr="1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914400"/>
            <a:ext cx="4114800" cy="21281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546EE5"/>
                </a:solidFill>
                <a:latin typeface="Calibri"/>
              </a:rPr>
              <a:t>FinDirector: Движение денежных средств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Учёт всех платежей в одном окне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Категории: выручка, расходы, налоги, конвертации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Поддержка нескольких валют и статусов оплаты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Фильтры по периодам, категориям и контрагентам</a:t>
            </a:r>
          </a:p>
        </p:txBody>
      </p:sp>
      <p:pic>
        <p:nvPicPr>
          <p:cNvPr id="4" name="Picture 3" descr="1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914400"/>
            <a:ext cx="4114800" cy="21280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546EE5"/>
                </a:solidFill>
                <a:latin typeface="Calibri"/>
              </a:rPr>
              <a:t>FinDirector: Прибыли и убытки (P&amp;L)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Анализ доходов, переменных и фиксированных расходов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Графики динамики прибыли по периодам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Выявление точек роста и слабых мест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Сводные таблицы по категориям расходов</a:t>
            </a:r>
          </a:p>
        </p:txBody>
      </p:sp>
      <p:pic>
        <p:nvPicPr>
          <p:cNvPr id="4" name="Picture 3" descr="1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914400"/>
            <a:ext cx="4114800" cy="21019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546EE5"/>
                </a:solidFill>
                <a:latin typeface="Calibri"/>
              </a:rPr>
              <a:t>Стоимость ошибок vs стоимость практикума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EF4444"/>
                </a:solidFill>
                <a:latin typeface="Calibri"/>
              </a:rPr>
              <a:t>Без знаний и системы: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Штраф за ошибку в форме 910: от 50 000 ₸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Один кассовый разрыв: потеря клиента или просрочка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Бухгалтер на рынке: 5 000 - 15 000 ₸/час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Финансовый аналитик: 15 000 - 35 000 ₸/час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Даже 3-4 консультации = 60 000 - 120 000 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18872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10B981"/>
                </a:solidFill>
                <a:latin typeface="Calibri"/>
              </a:rPr>
              <a:t>Пилотный практикум: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49 000 ₸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10 онлайн-встреч по 1-1,5 часа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3 эксперта: аналитик, бухгалтер, экономист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6 месяцев бесплатного доступа к FinDirector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Эксклюзивная цена первого потока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Программа адаптируется лично под вас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546EE5"/>
                </a:solidFill>
                <a:latin typeface="Calibri"/>
              </a:rPr>
              <a:t>Что вы получите как участник практикума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Базовые финансовые знания — P&amp;L, Cash Flow, платёжный календарь, юнит-экономика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Защита от штрафов — за какими показателями следить, чтобы налоговая не стала проблемой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Контроль финансового здоровья — 5 ключевых показателей каждую неделю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6 месяцев FinDirector бесплатно — программа адаптирована под участников практикума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Умение снижать затраты — какие расходы инвестиции, а какие пустая трата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Влияние на продукт — ваш голос напрямую влияет на разработку FinDirector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546EE5"/>
                </a:solidFill>
                <a:latin typeface="Calibri"/>
              </a:rPr>
              <a:t>Почему пилотный практикум — ваше преимущество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F5F6FA"/>
                </a:solidFill>
                <a:latin typeface="Calibri"/>
              </a:rPr>
              <a:t>Вы — первый поток. Это значит: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Эксклюзивная цена 49 000 ₸ — в будущих потоках стоимость будет выше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Программа адаптируется лично под ваш бизнес и ваши вопросы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Вы формируете продукт FinDirector — он строится под реальные потребности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Максимальное внимание экспертов — малая группа, не поточная лекция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546EE5"/>
                </a:solidFill>
                <a:latin typeface="Calibri"/>
              </a:rPr>
              <a:t>• </a:t>
            </a:r>
            <a:r>
              <a:rPr sz="1400" b="0">
                <a:solidFill>
                  <a:srgbClr val="F5F6FA"/>
                </a:solidFill>
                <a:latin typeface="Calibri"/>
              </a:rPr>
              <a:t>Прямой доступ к создателю программы и экспертам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7A8CB3"/>
                </a:solidFill>
                <a:latin typeface="Calibri"/>
              </a:rPr>
              <a:t>FinDirector — новый продукт, и участники первого потока получают максимум внимания и влияния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546EE5"/>
                </a:solidFill>
                <a:latin typeface="Calibri"/>
              </a:rPr>
              <a:t>Записаться в практикум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5F6FA"/>
                </a:solidFill>
                <a:latin typeface="Calibri"/>
              </a:rPr>
              <a:t>Начните управлять финансами по цифрам, а не по ощущениям</a:t>
            </a:r>
          </a:p>
          <a:p>
            <a:pPr>
              <a:spcBef>
                <a:spcPts val="1600"/>
              </a:spcBef>
            </a:pPr>
            <a:r>
              <a:rPr sz="3600" b="1">
                <a:solidFill>
                  <a:srgbClr val="10B981"/>
                </a:solidFill>
                <a:latin typeface="Calibri"/>
              </a:rPr>
              <a:t>49 000 ₸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✓ </a:t>
            </a:r>
            <a:r>
              <a:rPr sz="1400">
                <a:solidFill>
                  <a:srgbClr val="F5F6FA"/>
                </a:solidFill>
                <a:latin typeface="Calibri"/>
              </a:rPr>
              <a:t>10 онлайн-встреч по 1-1,5 часа · 1-2 раза в неделю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✓ </a:t>
            </a:r>
            <a:r>
              <a:rPr sz="1400">
                <a:solidFill>
                  <a:srgbClr val="F5F6FA"/>
                </a:solidFill>
                <a:latin typeface="Calibri"/>
              </a:rPr>
              <a:t>3 эксперта: финансовый аналитик, бухгалтер, экономист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✓ </a:t>
            </a:r>
            <a:r>
              <a:rPr sz="1400">
                <a:solidFill>
                  <a:srgbClr val="F5F6FA"/>
                </a:solidFill>
                <a:latin typeface="Calibri"/>
              </a:rPr>
              <a:t>6 месяцев бесплатного доступа к FinDirector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0B981"/>
                </a:solidFill>
                <a:latin typeface="Calibri"/>
              </a:rPr>
              <a:t>✓ </a:t>
            </a:r>
            <a:r>
              <a:rPr sz="1400">
                <a:solidFill>
                  <a:srgbClr val="F5F6FA"/>
                </a:solidFill>
                <a:latin typeface="Calibri"/>
              </a:rPr>
              <a:t>Старт: 6 апреля 2026</a:t>
            </a:r>
          </a:p>
          <a:p>
            <a:pPr>
              <a:spcBef>
                <a:spcPts val="2000"/>
              </a:spcBef>
            </a:pPr>
            <a:r>
              <a:rPr sz="1800" b="1">
                <a:solidFill>
                  <a:srgbClr val="546EE5"/>
                </a:solidFill>
                <a:latin typeface="Calibri"/>
              </a:rPr>
              <a:t>WhatsApp: +7 706 656 77 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A8CB3"/>
                </a:solidFill>
                <a:latin typeface="Calibri"/>
              </a:rPr>
              <a:t>Пилотный практикум — количество мест ограничено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